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5" r:id="rId2"/>
    <p:sldId id="256" r:id="rId3"/>
    <p:sldId id="257" r:id="rId4"/>
    <p:sldId id="258" r:id="rId5"/>
    <p:sldId id="296" r:id="rId6"/>
    <p:sldId id="321" r:id="rId7"/>
    <p:sldId id="377" r:id="rId8"/>
    <p:sldId id="378" r:id="rId9"/>
    <p:sldId id="379" r:id="rId10"/>
    <p:sldId id="374" r:id="rId11"/>
    <p:sldId id="323" r:id="rId12"/>
    <p:sldId id="373" r:id="rId13"/>
    <p:sldId id="326" r:id="rId14"/>
    <p:sldId id="325" r:id="rId15"/>
    <p:sldId id="337" r:id="rId16"/>
    <p:sldId id="327" r:id="rId17"/>
    <p:sldId id="328" r:id="rId18"/>
    <p:sldId id="329" r:id="rId19"/>
    <p:sldId id="330" r:id="rId20"/>
    <p:sldId id="331" r:id="rId21"/>
    <p:sldId id="333" r:id="rId22"/>
    <p:sldId id="322" r:id="rId23"/>
    <p:sldId id="335" r:id="rId24"/>
    <p:sldId id="324" r:id="rId25"/>
    <p:sldId id="375" r:id="rId26"/>
    <p:sldId id="332" r:id="rId27"/>
    <p:sldId id="376" r:id="rId28"/>
    <p:sldId id="276" r:id="rId29"/>
    <p:sldId id="277" r:id="rId30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79568C-B63D-4568-A590-C3EBB31D8CC8}" type="doc">
      <dgm:prSet loTypeId="urn:microsoft.com/office/officeart/2005/8/layout/vList2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A8CF9E48-722C-44F2-903F-8071CDDC2A96}">
      <dgm:prSet phldr="0" custT="1"/>
      <dgm:spPr/>
      <dgm:t>
        <a:bodyPr vert="horz" wrap="square"/>
        <a:lstStyle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b="1" i="0" dirty="0">
              <a:solidFill>
                <a:srgbClr val="7030A0"/>
              </a:solidFill>
            </a:rPr>
            <a:t>项目介绍</a:t>
          </a:r>
          <a:endParaRPr lang="en-US" sz="3600" b="1" dirty="0">
            <a:solidFill>
              <a:srgbClr val="7030A0"/>
            </a:solidFill>
          </a:endParaRPr>
        </a:p>
      </dgm:t>
    </dgm:pt>
    <dgm:pt modelId="{25F034C8-512F-407A-8011-4E49C84E7504}" type="parTrans" cxnId="{3127E4ED-2773-461E-8A23-F10E49CD2CCE}">
      <dgm:prSet/>
      <dgm:spPr/>
      <dgm:t>
        <a:bodyPr/>
        <a:lstStyle/>
        <a:p>
          <a:endParaRPr lang="en-US" sz="3600" b="1">
            <a:solidFill>
              <a:srgbClr val="7030A0"/>
            </a:solidFill>
          </a:endParaRPr>
        </a:p>
      </dgm:t>
    </dgm:pt>
    <dgm:pt modelId="{ACE0C209-70A5-4AA4-81DE-B72BD603FE0A}" type="sibTrans" cxnId="{3127E4ED-2773-461E-8A23-F10E49CD2CCE}">
      <dgm:prSet/>
      <dgm:spPr/>
      <dgm:t>
        <a:bodyPr/>
        <a:lstStyle/>
        <a:p>
          <a:endParaRPr lang="en-US" sz="3600" b="1">
            <a:solidFill>
              <a:srgbClr val="7030A0"/>
            </a:solidFill>
          </a:endParaRPr>
        </a:p>
      </dgm:t>
    </dgm:pt>
    <dgm:pt modelId="{7FBBAB32-35F3-46E1-821C-A0EA844738D0}" type="pres">
      <dgm:prSet presAssocID="{B979568C-B63D-4568-A590-C3EBB31D8CC8}" presName="linear" presStyleCnt="0">
        <dgm:presLayoutVars>
          <dgm:animLvl val="lvl"/>
          <dgm:resizeHandles val="exact"/>
        </dgm:presLayoutVars>
      </dgm:prSet>
      <dgm:spPr/>
    </dgm:pt>
    <dgm:pt modelId="{FAA61AEF-7924-4245-92EC-5B64FA97A33C}" type="pres">
      <dgm:prSet presAssocID="{A8CF9E48-722C-44F2-903F-8071CDDC2A96}" presName="parentText" presStyleLbl="node1" presStyleIdx="0" presStyleCnt="1" custLinFactY="4245" custLinFactNeighborX="1216" custLinFactNeighborY="100000">
        <dgm:presLayoutVars>
          <dgm:chMax val="0"/>
          <dgm:bulletEnabled val="1"/>
        </dgm:presLayoutVars>
      </dgm:prSet>
      <dgm:spPr/>
    </dgm:pt>
  </dgm:ptLst>
  <dgm:cxnLst>
    <dgm:cxn modelId="{E9F7D528-FAAE-46F1-83F4-3031F4469C74}" type="presOf" srcId="{A8CF9E48-722C-44F2-903F-8071CDDC2A96}" destId="{FAA61AEF-7924-4245-92EC-5B64FA97A33C}" srcOrd="0" destOrd="0" presId="urn:microsoft.com/office/officeart/2005/8/layout/vList2#1"/>
    <dgm:cxn modelId="{FDA4D3DD-483E-415D-9C02-6ED02ADF754D}" type="presOf" srcId="{B979568C-B63D-4568-A590-C3EBB31D8CC8}" destId="{7FBBAB32-35F3-46E1-821C-A0EA844738D0}" srcOrd="0" destOrd="0" presId="urn:microsoft.com/office/officeart/2005/8/layout/vList2#1"/>
    <dgm:cxn modelId="{3127E4ED-2773-461E-8A23-F10E49CD2CCE}" srcId="{B979568C-B63D-4568-A590-C3EBB31D8CC8}" destId="{A8CF9E48-722C-44F2-903F-8071CDDC2A96}" srcOrd="0" destOrd="0" parTransId="{25F034C8-512F-407A-8011-4E49C84E7504}" sibTransId="{ACE0C209-70A5-4AA4-81DE-B72BD603FE0A}"/>
    <dgm:cxn modelId="{67946C94-CF17-4462-89A7-8B0EFA9467DB}" type="presParOf" srcId="{7FBBAB32-35F3-46E1-821C-A0EA844738D0}" destId="{FAA61AEF-7924-4245-92EC-5B64FA97A33C}" srcOrd="0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A61AEF-7924-4245-92EC-5B64FA97A33C}">
      <dsp:nvSpPr>
        <dsp:cNvPr id="0" name=""/>
        <dsp:cNvSpPr/>
      </dsp:nvSpPr>
      <dsp:spPr bwMode="white">
        <a:xfrm>
          <a:off x="0" y="248"/>
          <a:ext cx="9603273" cy="7399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b="1" i="0" kern="1200" dirty="0">
              <a:solidFill>
                <a:srgbClr val="7030A0"/>
              </a:solidFill>
            </a:rPr>
            <a:t>项目介绍</a:t>
          </a:r>
          <a:endParaRPr lang="en-US" sz="3600" b="1" kern="1200" dirty="0">
            <a:solidFill>
              <a:srgbClr val="7030A0"/>
            </a:solidFill>
          </a:endParaRPr>
        </a:p>
      </dsp:txBody>
      <dsp:txXfrm>
        <a:off x="36123" y="36371"/>
        <a:ext cx="9531027" cy="667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Team Overview</a:t>
            </a:r>
            <a:r>
              <a:rPr lang="zh-CN" altLang="en-US" dirty="0"/>
              <a:t>（开发团队介绍）</a:t>
            </a:r>
            <a:endParaRPr lang="en-US" dirty="0"/>
          </a:p>
          <a:p>
            <a:r>
              <a:rPr lang="en-US" dirty="0"/>
              <a:t>Project Overview</a:t>
            </a:r>
            <a:r>
              <a:rPr lang="zh-CN" altLang="en-US" dirty="0"/>
              <a:t>（项目介绍）</a:t>
            </a:r>
            <a:endParaRPr lang="en-US" dirty="0"/>
          </a:p>
          <a:p>
            <a:r>
              <a:rPr lang="en-US" dirty="0"/>
              <a:t>Technical Skills implemented in the project</a:t>
            </a:r>
            <a:r>
              <a:rPr lang="zh-CN" altLang="en-US" dirty="0"/>
              <a:t>（项目中关键技术）</a:t>
            </a:r>
            <a:endParaRPr lang="en-US" dirty="0"/>
          </a:p>
          <a:p>
            <a:r>
              <a:rPr lang="en-US" dirty="0"/>
              <a:t>Challenges faced &amp; Solutions</a:t>
            </a:r>
            <a:r>
              <a:rPr lang="zh-CN" altLang="en-US" dirty="0"/>
              <a:t>（面临的问题以及方案）</a:t>
            </a:r>
            <a:endParaRPr lang="en-US" dirty="0"/>
          </a:p>
          <a:p>
            <a:r>
              <a:rPr lang="en-US" dirty="0"/>
              <a:t>Future version of the Project (More Ideas for Improvement)</a:t>
            </a:r>
            <a:r>
              <a:rPr lang="zh-CN" altLang="en-US" dirty="0"/>
              <a:t>（项目未来版本（改进点））</a:t>
            </a:r>
            <a:endParaRPr lang="en-US" dirty="0"/>
          </a:p>
          <a:p>
            <a:r>
              <a:rPr lang="en-US" dirty="0"/>
              <a:t>Learning Outcome from the Project Development</a:t>
            </a:r>
            <a:r>
              <a:rPr lang="zh-CN" altLang="en-US" dirty="0"/>
              <a:t>（项目开发中所得）</a:t>
            </a:r>
            <a:endParaRPr lang="en-US" dirty="0"/>
          </a:p>
          <a:p>
            <a:r>
              <a:rPr lang="en-US" dirty="0"/>
              <a:t>Question &amp; Answer</a:t>
            </a:r>
            <a:r>
              <a:rPr lang="zh-CN" altLang="en-US" dirty="0"/>
              <a:t>（问答时间）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788" y="595377"/>
            <a:ext cx="1711544" cy="13355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238349"/>
            <a:ext cx="8825658" cy="7922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      Semester project 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065" y="3326675"/>
            <a:ext cx="10106660" cy="661852"/>
          </a:xfrm>
        </p:spPr>
        <p:txBody>
          <a:bodyPr>
            <a:noAutofit/>
          </a:bodyPr>
          <a:lstStyle/>
          <a:p>
            <a:pPr algn="ctr"/>
            <a:r>
              <a:rPr lang="en-US" altLang="zh-CN" sz="4000" b="1" dirty="0"/>
              <a:t>Data analysis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56" y="447330"/>
            <a:ext cx="2105440" cy="16429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3107169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DEVELOPMENT</a:t>
            </a:r>
          </a:p>
        </p:txBody>
      </p:sp>
      <p:pic>
        <p:nvPicPr>
          <p:cNvPr id="1028" name="Picture 4" descr="http://tse1.mm.bing.net/th?&amp;id=OIP.M8b3a39774d84d14322b81d0f00ff04a2o0&amp;w=300&amp;h=150&amp;c=0&amp;pid=1.9&amp;rs=0&amp;p=0&amp;r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597" y="614761"/>
            <a:ext cx="28575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tse1.mm.bing.net/th?&amp;id=OIP.Ma4b38bdab2e53b6e5162fc090fa537d2o0&amp;w=299&amp;h=143&amp;c=0&amp;pid=1.9&amp;rs=0&amp;p=0&amp;r=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87" y="2423956"/>
            <a:ext cx="283845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ttp://tse1.mm.bing.net/th?&amp;id=OIP.Ma4b38bdab2e53b6e5162fc090fa537d2o0&amp;w=299&amp;h=143&amp;c=0&amp;pid=1.9&amp;rs=0&amp;p=0&amp;r=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997" y="2423955"/>
            <a:ext cx="283845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407633" y="4122899"/>
            <a:ext cx="2700996" cy="13620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   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algn="ctr"/>
            <a:endParaRPr lang="en-US" altLang="zh-CN" sz="24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陈家政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负责六种查询和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web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平台</a:t>
            </a:r>
          </a:p>
          <a:p>
            <a:pPr algn="ctr"/>
            <a:endParaRPr lang="en-US" altLang="zh-CN" sz="2400" b="1" dirty="0">
              <a:solidFill>
                <a:schemeClr val="tx1"/>
              </a:solidFill>
            </a:endParaRPr>
          </a:p>
          <a:p>
            <a:pPr algn="ctr"/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7441" y="4122901"/>
            <a:ext cx="2700996" cy="13620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李宇希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负责六种查询和服务器部署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7537" y="4122899"/>
            <a:ext cx="2700996" cy="13620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陈政铭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负责六种查询和积木报表</a:t>
            </a:r>
          </a:p>
          <a:p>
            <a:pPr algn="ctr"/>
            <a:endParaRPr lang="en-US" altLang="zh-CN" sz="24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http://tse1.mm.bing.net/th?&amp;id=OIP.Ma4b38bdab2e53b6e5162fc090fa537d2o0&amp;w=299&amp;h=143&amp;c=0&amp;pid=1.9&amp;rs=0&amp;p=0&amp;r=0">
            <a:extLst>
              <a:ext uri="{FF2B5EF4-FFF2-40B4-BE49-F238E27FC236}">
                <a16:creationId xmlns:a16="http://schemas.microsoft.com/office/drawing/2014/main" id="{28820C22-9A01-A4AB-B3BD-B4EDF7D9C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179" y="2423956"/>
            <a:ext cx="283845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838410491"/>
              </p:ext>
            </p:extLst>
          </p:nvPr>
        </p:nvGraphicFramePr>
        <p:xfrm>
          <a:off x="1081295" y="1201783"/>
          <a:ext cx="9603274" cy="740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6310" y="2303780"/>
            <a:ext cx="4765040" cy="3416300"/>
          </a:xfrm>
        </p:spPr>
        <p:txBody>
          <a:bodyPr/>
          <a:lstStyle/>
          <a:p>
            <a:endParaRPr lang="zh-CN" altLang="en-US" dirty="0"/>
          </a:p>
          <a:p>
            <a:r>
              <a:rPr lang="zh-CN" altLang="en-US" dirty="0"/>
              <a:t>基于</a:t>
            </a:r>
            <a:r>
              <a:rPr lang="en-US" altLang="zh-CN" dirty="0"/>
              <a:t>springboot</a:t>
            </a:r>
            <a:r>
              <a:rPr lang="zh-CN" altLang="en-US" dirty="0"/>
              <a:t>框架下的公交车相关数据分析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altLang="en-US" dirty="0"/>
              <a:t>主要通过</a:t>
            </a:r>
            <a:r>
              <a:rPr lang="en-US" altLang="zh-CN" dirty="0"/>
              <a:t>hive</a:t>
            </a:r>
            <a:r>
              <a:rPr lang="zh-CN" altLang="en-US" dirty="0"/>
              <a:t>和</a:t>
            </a:r>
            <a:r>
              <a:rPr lang="en-US" altLang="zh-CN" dirty="0"/>
              <a:t>hbase</a:t>
            </a:r>
            <a:r>
              <a:rPr lang="zh-CN" altLang="en-US" dirty="0"/>
              <a:t>等大数据工具进行数据分析，最终依托</a:t>
            </a:r>
            <a:r>
              <a:rPr lang="en-US" altLang="zh-CN" dirty="0"/>
              <a:t>javaweb</a:t>
            </a:r>
            <a:r>
              <a:rPr lang="zh-CN" altLang="en-US" dirty="0"/>
              <a:t>，</a:t>
            </a:r>
            <a:r>
              <a:rPr lang="en-US" altLang="zh-CN" dirty="0"/>
              <a:t>MySQL</a:t>
            </a:r>
            <a:r>
              <a:rPr lang="zh-CN" altLang="en-US" dirty="0"/>
              <a:t>，积木报表等工具进行数据可视化，权限控制和平台搭建.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" y="2614295"/>
            <a:ext cx="5016500" cy="2950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5533" y="915883"/>
            <a:ext cx="8761413" cy="706964"/>
          </a:xfrm>
        </p:spPr>
        <p:txBody>
          <a:bodyPr/>
          <a:lstStyle/>
          <a:p>
            <a:r>
              <a:rPr lang="zh-CN">
                <a:sym typeface="+mn-ea"/>
              </a:rPr>
              <a:t>主页与登录注册</a:t>
            </a:r>
            <a:r>
              <a:rPr>
                <a:sym typeface="+mn-ea"/>
              </a:rPr>
              <a:t>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290" y="2112645"/>
            <a:ext cx="11183620" cy="3204845"/>
          </a:xfrm>
        </p:spPr>
        <p:txBody>
          <a:bodyPr/>
          <a:lstStyle/>
          <a:p>
            <a:r>
              <a:rPr lang="zh-CN" altLang="en-US" b="1"/>
              <a:t>主要通过数据库和</a:t>
            </a:r>
            <a:r>
              <a:rPr lang="en-US" altLang="zh-CN" b="1"/>
              <a:t>java</a:t>
            </a:r>
            <a:r>
              <a:rPr lang="zh-CN" altLang="en-US" b="1"/>
              <a:t>实现登录注册</a:t>
            </a:r>
          </a:p>
          <a:p>
            <a:r>
              <a:rPr lang="zh-CN" altLang="en-US" b="1"/>
              <a:t>通过</a:t>
            </a:r>
            <a:r>
              <a:rPr lang="en-US" altLang="zh-CN" b="1"/>
              <a:t>html5</a:t>
            </a:r>
            <a:r>
              <a:rPr lang="zh-CN" altLang="en-US" b="1"/>
              <a:t>实现网页的渲染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5" y="3163570"/>
            <a:ext cx="4468495" cy="3119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400" y="2238375"/>
            <a:ext cx="6569075" cy="3815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项目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  <a:r>
              <a:rPr lang="zh-CN" altLang="en-US" b="1" dirty="0">
                <a:solidFill>
                  <a:srgbClr val="FF0000"/>
                </a:solidFill>
              </a:rPr>
              <a:t>基于美国各流域物质分布的数据分析</a:t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zh-CN" altLang="en-US" b="1" dirty="0">
                <a:solidFill>
                  <a:srgbClr val="FF0000"/>
                </a:solidFill>
              </a:rPr>
              <a:t>关键技术</a:t>
            </a:r>
            <a:r>
              <a:rPr lang="en-US" altLang="zh-CN" b="1" dirty="0">
                <a:solidFill>
                  <a:srgbClr val="FF0000"/>
                </a:solidFill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</a:rPr>
              <a:t>hive+hbase</a:t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zh-CN" altLang="en-US" sz="2800" b="1" dirty="0">
                <a:solidFill>
                  <a:schemeClr val="accent1"/>
                </a:solidFill>
              </a:rPr>
              <a:t>陈政铭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41417" y="2234247"/>
            <a:ext cx="8830492" cy="4366850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1.hive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实现五种查询，</a:t>
            </a:r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</a:rPr>
              <a:t>hbase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实现一种查询。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zh-CN" sz="2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2.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包含了分组、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⼦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查询、分区、分桶、内置函数和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⾃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定义函数等技术点，完全符合项目要求。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zh-CN" alt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3.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通过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upload_file.sh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脚本实现每一批数据动态上传和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</a:rPr>
              <a:t>czm_final_analysis.sh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实现每一次的六种查询导入到</a:t>
            </a:r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</a:rPr>
              <a:t>mysql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。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8AB41-7377-E3B2-DCFF-F906DBA0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500974"/>
            <a:ext cx="8761413" cy="337226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MySQL</a:t>
            </a:r>
            <a:r>
              <a:rPr lang="zh-CN" altLang="en-US" b="1" dirty="0">
                <a:solidFill>
                  <a:srgbClr val="FF0000"/>
                </a:solidFill>
              </a:rPr>
              <a:t>表结构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10FE6-6874-030E-F6CB-6B1402105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9715C270-030F-9A96-C1DD-6736EE2C4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21" y="1672132"/>
            <a:ext cx="5410428" cy="4407655"/>
          </a:xfrm>
          <a:prstGeom prst="rect">
            <a:avLst/>
          </a:prstGeom>
        </p:spPr>
      </p:pic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0B47A7F2-8A4B-0BF6-55C8-54058DC00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965" y="1672132"/>
            <a:ext cx="5690681" cy="434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C3663-088C-28E7-1010-158608E9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462064"/>
            <a:ext cx="8761413" cy="535021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MySQL</a:t>
            </a:r>
            <a:r>
              <a:rPr lang="zh-CN" altLang="en-US" b="1" dirty="0">
                <a:solidFill>
                  <a:srgbClr val="FF0000"/>
                </a:solidFill>
              </a:rPr>
              <a:t>表结构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8117B-4B8F-4EC3-98DC-7EC19F980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4782C2A8-1B05-307C-4683-E30FC3C89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71" y="1389220"/>
            <a:ext cx="6185197" cy="4962942"/>
          </a:xfrm>
          <a:prstGeom prst="rect">
            <a:avLst/>
          </a:prstGeom>
        </p:spPr>
      </p:pic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507A71CA-3CD2-02B4-9B17-24B3C6788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659" y="1389220"/>
            <a:ext cx="6505623" cy="46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3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E024B-AB47-836F-25A0-51A3091A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471792"/>
            <a:ext cx="8761413" cy="462064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MySQL</a:t>
            </a:r>
            <a:r>
              <a:rPr lang="zh-CN" altLang="en-US" b="1" dirty="0">
                <a:solidFill>
                  <a:srgbClr val="FF0000"/>
                </a:solidFill>
              </a:rPr>
              <a:t>表结构</a:t>
            </a:r>
            <a:endParaRPr lang="zh-CN" altLang="en-US" dirty="0"/>
          </a:p>
        </p:txBody>
      </p:sp>
      <p:pic>
        <p:nvPicPr>
          <p:cNvPr id="5" name="内容占位符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E1401EEA-BCDB-F177-8DBD-CC099CB0E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226" y="1529426"/>
            <a:ext cx="5218859" cy="4613590"/>
          </a:xfrm>
          <a:prstGeom prst="rect">
            <a:avLst/>
          </a:prstGeom>
        </p:spPr>
      </p:pic>
      <p:pic>
        <p:nvPicPr>
          <p:cNvPr id="7" name="图片 6" descr="图形用户界面, 文本&#10;&#10;AI 生成的内容可能不正确。">
            <a:extLst>
              <a:ext uri="{FF2B5EF4-FFF2-40B4-BE49-F238E27FC236}">
                <a16:creationId xmlns:a16="http://schemas.microsoft.com/office/drawing/2014/main" id="{64987A21-057C-E702-3391-FF8A7AA19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745" y="1529424"/>
            <a:ext cx="5578812" cy="461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4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C7846-1AA4-9E62-B3DC-3CF3B72B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项目主要流程图</a:t>
            </a:r>
            <a:r>
              <a:rPr lang="en-US" altLang="zh-CN" b="1" dirty="0">
                <a:solidFill>
                  <a:srgbClr val="FF0000"/>
                </a:solidFill>
              </a:rPr>
              <a:t>—</a:t>
            </a:r>
            <a:r>
              <a:rPr lang="en-US" altLang="zh-CN" b="1" dirty="0" err="1">
                <a:solidFill>
                  <a:srgbClr val="FF0000"/>
                </a:solidFill>
              </a:rPr>
              <a:t>hive+hbase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6F00F8-D351-8EA4-919D-7EAD440F8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19696A-A6F8-E2B5-254D-989F603F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3284"/>
            <a:ext cx="12192000" cy="308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9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准备工作</a:t>
            </a:r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1165DF89-BA26-61BC-14E8-DAC67742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91" y="1907177"/>
            <a:ext cx="4858428" cy="4876800"/>
          </a:xfrm>
          <a:prstGeom prst="rect">
            <a:avLst/>
          </a:prstGeom>
        </p:spPr>
      </p:pic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2970173A-4F5B-9BA3-8636-ADCAD307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建立主查询表</a:t>
            </a:r>
          </a:p>
        </p:txBody>
      </p:sp>
      <p:pic>
        <p:nvPicPr>
          <p:cNvPr id="15" name="图片 14" descr="文本&#10;&#10;AI 生成的内容可能不正确。">
            <a:extLst>
              <a:ext uri="{FF2B5EF4-FFF2-40B4-BE49-F238E27FC236}">
                <a16:creationId xmlns:a16="http://schemas.microsoft.com/office/drawing/2014/main" id="{63AAF169-98C5-1F04-A866-57059CDAD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426" y="1907177"/>
            <a:ext cx="4963218" cy="4876800"/>
          </a:xfrm>
          <a:prstGeom prst="rect">
            <a:avLst/>
          </a:prstGeom>
        </p:spPr>
      </p:pic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CBE22A65-72E5-8715-ABD5-386267DA9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692" y="0"/>
            <a:ext cx="3238952" cy="19052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5E7CC-4018-824A-84D9-BA333BD9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准备工作</a:t>
            </a:r>
            <a:endParaRPr lang="zh-CN" altLang="en-US" dirty="0"/>
          </a:p>
        </p:txBody>
      </p:sp>
      <p:pic>
        <p:nvPicPr>
          <p:cNvPr id="5" name="内容占位符 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93DCE122-9D53-3DAF-FF04-9942063F7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453" y="1915886"/>
            <a:ext cx="4476206" cy="487680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4602473F-B4BB-F40A-6A8E-C9997CA71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658" y="1915884"/>
            <a:ext cx="4583701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0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准备工作</a:t>
            </a:r>
            <a:endParaRPr lang="zh-CN" altLang="en-US" dirty="0"/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425A456-6025-1597-ACD0-136BF0699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06" y="2084669"/>
            <a:ext cx="3566514" cy="1679574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3B1BDE2-ADFD-90A3-361E-328E01F34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05" y="3834589"/>
            <a:ext cx="3566513" cy="2248214"/>
          </a:xfrm>
          <a:prstGeom prst="rect">
            <a:avLst/>
          </a:prstGeom>
        </p:spPr>
      </p:pic>
      <p:pic>
        <p:nvPicPr>
          <p:cNvPr id="13" name="图片 1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5F2FFBA-E4BF-4075-AF1E-AF94454BA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10" y="2084669"/>
            <a:ext cx="3230880" cy="1749920"/>
          </a:xfrm>
          <a:prstGeom prst="rect">
            <a:avLst/>
          </a:prstGeom>
        </p:spPr>
      </p:pic>
      <p:pic>
        <p:nvPicPr>
          <p:cNvPr id="15" name="图片 14" descr="图形用户界面&#10;&#10;AI 生成的内容可能不正确。">
            <a:extLst>
              <a:ext uri="{FF2B5EF4-FFF2-40B4-BE49-F238E27FC236}">
                <a16:creationId xmlns:a16="http://schemas.microsoft.com/office/drawing/2014/main" id="{EE7F6A4A-002F-480B-2B8E-A32E32DBA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6742" y="2084667"/>
            <a:ext cx="3019846" cy="3998135"/>
          </a:xfrm>
          <a:prstGeom prst="rect">
            <a:avLst/>
          </a:prstGeom>
        </p:spPr>
      </p:pic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6F44DD21-7253-7707-CDDA-2C941CAB03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794" y="3959851"/>
            <a:ext cx="3544389" cy="21229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准备工作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upload_file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2920C17-F97E-9369-7261-19D24B56E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119" y="1935022"/>
            <a:ext cx="6336881" cy="492297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7D2FD1-AD89-E66B-DBBA-E963A2BFB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093" y="1935022"/>
            <a:ext cx="5892212" cy="4922977"/>
          </a:xfrm>
          <a:prstGeom prst="rect">
            <a:avLst/>
          </a:prstGeom>
        </p:spPr>
      </p:pic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3724913E-4925-C477-5A64-C81AF34C5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准备工作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czm_final_analysis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21AFB1-56A0-2A4C-3E95-CDA6B34A9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63" y="1939136"/>
            <a:ext cx="7576457" cy="4918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3" y="618309"/>
            <a:ext cx="8761413" cy="757645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——java</a:t>
            </a:r>
            <a:r>
              <a:rPr lang="zh-CN" altLang="en-US" b="1" dirty="0">
                <a:solidFill>
                  <a:srgbClr val="FF0000"/>
                </a:solidFill>
              </a:rPr>
              <a:t>代码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DC5FE2-0A0C-A70E-C6CB-64C5A5C1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4926"/>
            <a:ext cx="5529943" cy="50030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2E700B2-6F2F-6D0F-0895-0724AD820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943" y="1854924"/>
            <a:ext cx="6662057" cy="5003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3" y="557350"/>
            <a:ext cx="8761413" cy="592182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——java</a:t>
            </a:r>
            <a:r>
              <a:rPr lang="zh-CN" altLang="en-US" b="1" dirty="0">
                <a:solidFill>
                  <a:srgbClr val="FF0000"/>
                </a:solidFill>
              </a:rPr>
              <a:t>代码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BF88D9-A0D8-FE1E-7BA6-9BE8FCA86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5291"/>
            <a:ext cx="5529943" cy="53427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778868-87E9-AADC-B5B0-B5038C134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943" y="1515291"/>
            <a:ext cx="6662057" cy="53427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013" y="496389"/>
            <a:ext cx="11177473" cy="1071154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五种查询逻辑</a:t>
            </a:r>
            <a:r>
              <a:rPr lang="en-US" altLang="zh-CN" b="1" dirty="0">
                <a:solidFill>
                  <a:srgbClr val="FF0000"/>
                </a:solidFill>
              </a:rPr>
              <a:t>(WatershedEfficiencyTop10)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642156" y="1567543"/>
            <a:ext cx="634047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1.</a:t>
            </a:r>
            <a:r>
              <a:rPr lang="zh-CN" altLang="en-US" sz="2000" b="1" dirty="0">
                <a:solidFill>
                  <a:srgbClr val="00B050"/>
                </a:solidFill>
              </a:rPr>
              <a:t>从最新批次（最大</a:t>
            </a:r>
            <a:r>
              <a:rPr lang="en-US" altLang="zh-CN" sz="2000" b="1" dirty="0">
                <a:solidFill>
                  <a:srgbClr val="00B050"/>
                </a:solidFill>
              </a:rPr>
              <a:t>id</a:t>
            </a:r>
            <a:r>
              <a:rPr lang="zh-CN" altLang="en-US" sz="2000" b="1" dirty="0">
                <a:solidFill>
                  <a:srgbClr val="00B050"/>
                </a:solidFill>
              </a:rPr>
              <a:t>）的流域养分平衡数据中，筛选出 </a:t>
            </a:r>
            <a:r>
              <a:rPr lang="en-US" altLang="zh-CN" sz="2000" b="1" dirty="0">
                <a:solidFill>
                  <a:srgbClr val="00B050"/>
                </a:solidFill>
              </a:rPr>
              <a:t>2000 </a:t>
            </a:r>
            <a:r>
              <a:rPr lang="zh-CN" altLang="en-US" sz="2000" b="1" dirty="0">
                <a:solidFill>
                  <a:srgbClr val="00B050"/>
                </a:solidFill>
              </a:rPr>
              <a:t>年及以后各年份里，农业氮磷综合利用效率排名前 </a:t>
            </a:r>
            <a:r>
              <a:rPr lang="en-US" altLang="zh-CN" sz="2000" b="1" dirty="0">
                <a:solidFill>
                  <a:srgbClr val="00B050"/>
                </a:solidFill>
              </a:rPr>
              <a:t>10 </a:t>
            </a:r>
            <a:r>
              <a:rPr lang="zh-CN" altLang="en-US" sz="2000" b="1" dirty="0">
                <a:solidFill>
                  <a:srgbClr val="00B050"/>
                </a:solidFill>
              </a:rPr>
              <a:t>的流域，并计算展示相关效率指标及排名信息，最终按年份和排名有序输出结果。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r>
              <a:rPr lang="en-US" altLang="zh-CN" sz="2000" b="1" dirty="0">
                <a:solidFill>
                  <a:srgbClr val="00B050"/>
                </a:solidFill>
              </a:rPr>
              <a:t>2. ROW_NUMBER() OVER (PARTITION BY ... ORDER BY ...)</a:t>
            </a:r>
            <a:r>
              <a:rPr lang="zh-CN" altLang="en-US" sz="2000" b="1" dirty="0">
                <a:solidFill>
                  <a:srgbClr val="00B050"/>
                </a:solidFill>
              </a:rPr>
              <a:t>：</a:t>
            </a:r>
            <a:r>
              <a:rPr lang="en-US" altLang="zh-CN" sz="2000" b="1" dirty="0">
                <a:solidFill>
                  <a:srgbClr val="00B050"/>
                </a:solidFill>
              </a:rPr>
              <a:t>Hive </a:t>
            </a:r>
            <a:r>
              <a:rPr lang="zh-CN" altLang="en-US" sz="2000" b="1" dirty="0">
                <a:solidFill>
                  <a:srgbClr val="00B050"/>
                </a:solidFill>
              </a:rPr>
              <a:t>窗口函数，作用是 “分组排名”，这里实现 “按年份分组，每组内按综合效率降序分配唯一排名（无并列排名）”。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r>
              <a:rPr lang="en-US" altLang="zh-CN" sz="2000" b="1" dirty="0">
                <a:solidFill>
                  <a:srgbClr val="00B050"/>
                </a:solidFill>
              </a:rPr>
              <a:t>3.</a:t>
            </a:r>
            <a:r>
              <a:rPr lang="zh-CN" altLang="en-US" sz="2000" b="1" dirty="0">
                <a:solidFill>
                  <a:srgbClr val="00B050"/>
                </a:solidFill>
              </a:rPr>
              <a:t>综合效率计算公式：</a:t>
            </a:r>
            <a:r>
              <a:rPr lang="en-US" altLang="zh-CN" sz="2000" b="1" dirty="0">
                <a:solidFill>
                  <a:srgbClr val="00B050"/>
                </a:solidFill>
              </a:rPr>
              <a:t>(</a:t>
            </a:r>
            <a:r>
              <a:rPr lang="en-US" altLang="zh-CN" sz="2000" b="1" dirty="0" err="1">
                <a:solidFill>
                  <a:srgbClr val="00B050"/>
                </a:solidFill>
              </a:rPr>
              <a:t>n_nue_kgsqkm</a:t>
            </a:r>
            <a:r>
              <a:rPr lang="en-US" altLang="zh-CN" sz="2000" b="1" dirty="0">
                <a:solidFill>
                  <a:srgbClr val="00B050"/>
                </a:solidFill>
              </a:rPr>
              <a:t> + </a:t>
            </a:r>
            <a:r>
              <a:rPr lang="en-US" altLang="zh-CN" sz="2000" b="1" dirty="0" err="1">
                <a:solidFill>
                  <a:srgbClr val="00B050"/>
                </a:solidFill>
              </a:rPr>
              <a:t>p_nue_kgsqkm</a:t>
            </a:r>
            <a:r>
              <a:rPr lang="en-US" altLang="zh-CN" sz="2000" b="1" dirty="0">
                <a:solidFill>
                  <a:srgbClr val="00B050"/>
                </a:solidFill>
              </a:rPr>
              <a:t>) / 2</a:t>
            </a:r>
            <a:r>
              <a:rPr lang="zh-CN" altLang="en-US" sz="2000" b="1" dirty="0">
                <a:solidFill>
                  <a:srgbClr val="00B050"/>
                </a:solidFill>
              </a:rPr>
              <a:t>（氮利用效率 </a:t>
            </a:r>
            <a:r>
              <a:rPr lang="en-US" altLang="zh-CN" sz="2000" b="1" dirty="0">
                <a:solidFill>
                  <a:srgbClr val="00B050"/>
                </a:solidFill>
              </a:rPr>
              <a:t>+ </a:t>
            </a:r>
            <a:r>
              <a:rPr lang="zh-CN" altLang="en-US" sz="2000" b="1" dirty="0">
                <a:solidFill>
                  <a:srgbClr val="00B050"/>
                </a:solidFill>
              </a:rPr>
              <a:t>磷利用效率的算术平均值），</a:t>
            </a:r>
            <a:r>
              <a:rPr lang="en-US" altLang="zh-CN" sz="2000" b="1" dirty="0">
                <a:solidFill>
                  <a:srgbClr val="00B050"/>
                </a:solidFill>
              </a:rPr>
              <a:t>DESC</a:t>
            </a:r>
            <a:r>
              <a:rPr lang="zh-CN" altLang="en-US" sz="2000" b="1" dirty="0">
                <a:solidFill>
                  <a:srgbClr val="00B050"/>
                </a:solidFill>
              </a:rPr>
              <a:t>表示降序，即综合效率越高，排名</a:t>
            </a:r>
            <a:r>
              <a:rPr lang="en-US" altLang="zh-CN" sz="2000" b="1" dirty="0">
                <a:solidFill>
                  <a:srgbClr val="00B050"/>
                </a:solidFill>
              </a:rPr>
              <a:t>rank</a:t>
            </a:r>
            <a:r>
              <a:rPr lang="zh-CN" altLang="en-US" sz="2000" b="1" dirty="0">
                <a:solidFill>
                  <a:srgbClr val="00B050"/>
                </a:solidFill>
              </a:rPr>
              <a:t>越小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r>
              <a:rPr lang="en-US" altLang="zh-CN" sz="2000" b="1" dirty="0">
                <a:solidFill>
                  <a:srgbClr val="00B050"/>
                </a:solidFill>
              </a:rPr>
              <a:t>4.</a:t>
            </a:r>
            <a:r>
              <a:rPr lang="zh-CN" altLang="en-US" sz="2000" b="1" dirty="0">
                <a:solidFill>
                  <a:srgbClr val="00B050"/>
                </a:solidFill>
              </a:rPr>
              <a:t>过滤条件的意义：确保数据是最新批次、有效年份、非空、合理范围的有效数据，避免无效数据干扰结果，提升程序鲁棒性。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endParaRPr lang="zh-CN" altLang="en-US" sz="1600" dirty="0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C0902446-B0AF-975E-FD80-D5D128608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52" y="1567543"/>
            <a:ext cx="5354774" cy="52904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013" y="0"/>
            <a:ext cx="11221016" cy="992777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五种查询逻辑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PhosphorusPollutionByBasinArea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766560" y="1079856"/>
            <a:ext cx="5355409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1.</a:t>
            </a:r>
            <a:r>
              <a:rPr lang="zh-CN" altLang="en-US" sz="2000" b="1" dirty="0">
                <a:solidFill>
                  <a:srgbClr val="00B050"/>
                </a:solidFill>
              </a:rPr>
              <a:t>针对最新批次（最大</a:t>
            </a:r>
            <a:r>
              <a:rPr lang="en-US" altLang="zh-CN" sz="2000" b="1" dirty="0">
                <a:solidFill>
                  <a:srgbClr val="00B050"/>
                </a:solidFill>
              </a:rPr>
              <a:t>id</a:t>
            </a:r>
            <a:r>
              <a:rPr lang="zh-CN" altLang="en-US" sz="2000" b="1" dirty="0">
                <a:solidFill>
                  <a:srgbClr val="00B050"/>
                </a:solidFill>
              </a:rPr>
              <a:t>）、</a:t>
            </a:r>
            <a:r>
              <a:rPr lang="en-US" altLang="zh-CN" sz="2000" b="1" dirty="0">
                <a:solidFill>
                  <a:srgbClr val="00B050"/>
                </a:solidFill>
              </a:rPr>
              <a:t>2010-2020 </a:t>
            </a:r>
            <a:r>
              <a:rPr lang="zh-CN" altLang="en-US" sz="2000" b="1" dirty="0">
                <a:solidFill>
                  <a:srgbClr val="00B050"/>
                </a:solidFill>
              </a:rPr>
              <a:t>年的有效流域养分数据，按流域面积大小进行分级归类，然后对每一级流域的磷素三大来源（农业磷肥、牲畜磷排泄物、市政点源磷）进行总量统计和占比分析，最终按各等级流域的数量降序输出结果，用于清晰呈现不同规模流域的磷素输入结构差异。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r>
              <a:rPr lang="en-US" altLang="zh-CN" sz="2000" b="1" dirty="0">
                <a:solidFill>
                  <a:srgbClr val="00B050"/>
                </a:solidFill>
              </a:rPr>
              <a:t>2.</a:t>
            </a:r>
            <a:r>
              <a:rPr lang="zh-CN" altLang="en-US" sz="2000" b="1" dirty="0">
                <a:solidFill>
                  <a:srgbClr val="00B050"/>
                </a:solidFill>
              </a:rPr>
              <a:t>过滤条件聚焦于 “磷素三大来源字段非空” 和 “面积有效”，因为后续要基于这几个字段做求和与占比计算，空值或无效面积会导致统计结果失真。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r>
              <a:rPr lang="en-US" altLang="zh-CN" sz="2000" b="1" dirty="0">
                <a:solidFill>
                  <a:srgbClr val="00B050"/>
                </a:solidFill>
              </a:rPr>
              <a:t>3.</a:t>
            </a:r>
            <a:r>
              <a:rPr lang="zh-CN" altLang="en-US" sz="2000" b="1" dirty="0">
                <a:solidFill>
                  <a:srgbClr val="00B050"/>
                </a:solidFill>
              </a:rPr>
              <a:t>按 “批次 </a:t>
            </a:r>
            <a:r>
              <a:rPr lang="en-US" altLang="zh-CN" sz="2000" b="1" dirty="0">
                <a:solidFill>
                  <a:srgbClr val="00B050"/>
                </a:solidFill>
              </a:rPr>
              <a:t>+ </a:t>
            </a:r>
            <a:r>
              <a:rPr lang="zh-CN" altLang="en-US" sz="2000" b="1" dirty="0">
                <a:solidFill>
                  <a:srgbClr val="00B050"/>
                </a:solidFill>
              </a:rPr>
              <a:t>流域面积等级” 分组。这一步是统计分析的核心分组依据，实现 “同批次、同面积等级的流域归为一组”，后续所有聚合统计都基于该分组进行。</a:t>
            </a:r>
          </a:p>
          <a:p>
            <a:endParaRPr lang="zh-CN" altLang="en-US" sz="1600" dirty="0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1A5B9AFF-DAB5-54F1-F2C6-B6EA12060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856"/>
            <a:ext cx="6766560" cy="59349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013" y="0"/>
            <a:ext cx="11212307" cy="1001486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五种查询逻辑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NitrogenSurplusEmissionAnalysis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03569733-7028-C264-7071-4AEC306FC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154"/>
            <a:ext cx="6766560" cy="578684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9270C35-FE15-58C4-0049-2A165419C72D}"/>
              </a:ext>
            </a:extLst>
          </p:cNvPr>
          <p:cNvSpPr txBox="1"/>
          <p:nvPr/>
        </p:nvSpPr>
        <p:spPr>
          <a:xfrm>
            <a:off x="6766560" y="1079856"/>
            <a:ext cx="535540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1.</a:t>
            </a:r>
            <a:r>
              <a:rPr lang="zh-CN" altLang="en-US" b="1" dirty="0">
                <a:solidFill>
                  <a:srgbClr val="00B050"/>
                </a:solidFill>
              </a:rPr>
              <a:t>针对最新批次（最大</a:t>
            </a:r>
            <a:r>
              <a:rPr lang="en-US" altLang="zh-CN" b="1" dirty="0">
                <a:solidFill>
                  <a:srgbClr val="00B050"/>
                </a:solidFill>
              </a:rPr>
              <a:t>id</a:t>
            </a:r>
            <a:r>
              <a:rPr lang="zh-CN" altLang="en-US" b="1" dirty="0">
                <a:solidFill>
                  <a:srgbClr val="00B050"/>
                </a:solidFill>
              </a:rPr>
              <a:t>）的流域数据，分别统计两个不同时间段的氮素指标（</a:t>
            </a:r>
            <a:r>
              <a:rPr lang="en-US" altLang="zh-CN" b="1" dirty="0">
                <a:solidFill>
                  <a:srgbClr val="00B050"/>
                </a:solidFill>
              </a:rPr>
              <a:t>1950-2000 </a:t>
            </a:r>
            <a:r>
              <a:rPr lang="zh-CN" altLang="en-US" b="1" dirty="0">
                <a:solidFill>
                  <a:srgbClr val="00B050"/>
                </a:solidFill>
              </a:rPr>
              <a:t>年 </a:t>
            </a:r>
            <a:r>
              <a:rPr lang="en-US" altLang="zh-CN" b="1" dirty="0">
                <a:solidFill>
                  <a:srgbClr val="00B050"/>
                </a:solidFill>
              </a:rPr>
              <a:t>legacy </a:t>
            </a:r>
            <a:r>
              <a:rPr lang="zh-CN" altLang="en-US" b="1" dirty="0">
                <a:solidFill>
                  <a:srgbClr val="00B050"/>
                </a:solidFill>
              </a:rPr>
              <a:t>农业氮累积盈余、</a:t>
            </a:r>
            <a:r>
              <a:rPr lang="en-US" altLang="zh-CN" b="1" dirty="0">
                <a:solidFill>
                  <a:srgbClr val="00B050"/>
                </a:solidFill>
              </a:rPr>
              <a:t>2001 </a:t>
            </a:r>
            <a:r>
              <a:rPr lang="zh-CN" altLang="en-US" b="1" dirty="0">
                <a:solidFill>
                  <a:srgbClr val="00B050"/>
                </a:solidFill>
              </a:rPr>
              <a:t>年及以后年平均氮总排放），通过流域标识（</a:t>
            </a:r>
            <a:r>
              <a:rPr lang="en-US" altLang="zh-CN" b="1" dirty="0">
                <a:solidFill>
                  <a:srgbClr val="00B050"/>
                </a:solidFill>
              </a:rPr>
              <a:t>FIPS</a:t>
            </a:r>
            <a:r>
              <a:rPr lang="zh-CN" altLang="en-US" b="1" dirty="0">
                <a:solidFill>
                  <a:srgbClr val="00B050"/>
                </a:solidFill>
              </a:rPr>
              <a:t>）和批次（</a:t>
            </a:r>
            <a:r>
              <a:rPr lang="en-US" altLang="zh-CN" b="1" dirty="0">
                <a:solidFill>
                  <a:srgbClr val="00B050"/>
                </a:solidFill>
              </a:rPr>
              <a:t>id</a:t>
            </a:r>
            <a:r>
              <a:rPr lang="zh-CN" altLang="en-US" b="1" dirty="0">
                <a:solidFill>
                  <a:srgbClr val="00B050"/>
                </a:solidFill>
              </a:rPr>
              <a:t>）关联两组数据后，计算排放与盈余的比值并划分排放等级，最终筛选出累积盈余为正的流域中，该比值排名前 </a:t>
            </a:r>
            <a:r>
              <a:rPr lang="en-US" altLang="zh-CN" b="1" dirty="0">
                <a:solidFill>
                  <a:srgbClr val="00B050"/>
                </a:solidFill>
              </a:rPr>
              <a:t>50 </a:t>
            </a:r>
            <a:r>
              <a:rPr lang="zh-CN" altLang="en-US" b="1" dirty="0">
                <a:solidFill>
                  <a:srgbClr val="00B050"/>
                </a:solidFill>
              </a:rPr>
              <a:t>的记录，用于分析流域历史氮盈余与后期氮排放的关联关系。</a:t>
            </a:r>
            <a:endParaRPr lang="en-US" altLang="zh-CN" b="1" dirty="0">
              <a:solidFill>
                <a:srgbClr val="00B050"/>
              </a:solidFill>
            </a:endParaRPr>
          </a:p>
          <a:p>
            <a:r>
              <a:rPr lang="en-US" altLang="zh-CN" b="1" dirty="0">
                <a:solidFill>
                  <a:srgbClr val="00B050"/>
                </a:solidFill>
              </a:rPr>
              <a:t>2.</a:t>
            </a:r>
            <a:r>
              <a:rPr lang="zh-CN" altLang="en-US" b="1" dirty="0">
                <a:solidFill>
                  <a:srgbClr val="00B050"/>
                </a:solidFill>
              </a:rPr>
              <a:t>第一个 </a:t>
            </a:r>
            <a:r>
              <a:rPr lang="en-US" altLang="zh-CN" b="1" dirty="0">
                <a:solidFill>
                  <a:srgbClr val="00B050"/>
                </a:solidFill>
              </a:rPr>
              <a:t>CTE</a:t>
            </a:r>
            <a:r>
              <a:rPr lang="zh-CN" altLang="en-US" b="1" dirty="0">
                <a:solidFill>
                  <a:srgbClr val="00B050"/>
                </a:solidFill>
              </a:rPr>
              <a:t>：</a:t>
            </a:r>
            <a:r>
              <a:rPr lang="en-US" altLang="zh-CN" b="1" dirty="0" err="1">
                <a:solidFill>
                  <a:srgbClr val="00B050"/>
                </a:solidFill>
              </a:rPr>
              <a:t>cumulative_data</a:t>
            </a:r>
            <a:r>
              <a:rPr lang="zh-CN" altLang="en-US" b="1" dirty="0">
                <a:solidFill>
                  <a:srgbClr val="00B050"/>
                </a:solidFill>
              </a:rPr>
              <a:t>（历史氮盈余统计）</a:t>
            </a:r>
          </a:p>
          <a:p>
            <a:r>
              <a:rPr lang="zh-CN" altLang="en-US" b="1" dirty="0">
                <a:solidFill>
                  <a:srgbClr val="00B050"/>
                </a:solidFill>
              </a:rPr>
              <a:t>该 </a:t>
            </a:r>
            <a:r>
              <a:rPr lang="en-US" altLang="zh-CN" b="1" dirty="0">
                <a:solidFill>
                  <a:srgbClr val="00B050"/>
                </a:solidFill>
              </a:rPr>
              <a:t>CTE </a:t>
            </a:r>
            <a:r>
              <a:rPr lang="zh-CN" altLang="en-US" b="1" dirty="0">
                <a:solidFill>
                  <a:srgbClr val="00B050"/>
                </a:solidFill>
              </a:rPr>
              <a:t>专门统计</a:t>
            </a:r>
            <a:r>
              <a:rPr lang="en-US" altLang="zh-CN" b="1" dirty="0">
                <a:solidFill>
                  <a:srgbClr val="00B050"/>
                </a:solidFill>
              </a:rPr>
              <a:t>1950-2000 </a:t>
            </a:r>
            <a:r>
              <a:rPr lang="zh-CN" altLang="en-US" b="1" dirty="0">
                <a:solidFill>
                  <a:srgbClr val="00B050"/>
                </a:solidFill>
              </a:rPr>
              <a:t>年的流域 </a:t>
            </a:r>
            <a:r>
              <a:rPr lang="en-US" altLang="zh-CN" b="1" dirty="0">
                <a:solidFill>
                  <a:srgbClr val="00B050"/>
                </a:solidFill>
              </a:rPr>
              <a:t>legacy </a:t>
            </a:r>
            <a:r>
              <a:rPr lang="zh-CN" altLang="en-US" b="1" dirty="0">
                <a:solidFill>
                  <a:srgbClr val="00B050"/>
                </a:solidFill>
              </a:rPr>
              <a:t>农业氮盈余数据，为后续对比分析提供历史基准</a:t>
            </a:r>
            <a:endParaRPr lang="en-US" altLang="zh-CN" b="1" dirty="0">
              <a:solidFill>
                <a:srgbClr val="00B050"/>
              </a:solidFill>
            </a:endParaRPr>
          </a:p>
          <a:p>
            <a:r>
              <a:rPr lang="en-US" altLang="zh-CN" b="1" dirty="0">
                <a:solidFill>
                  <a:srgbClr val="00B050"/>
                </a:solidFill>
              </a:rPr>
              <a:t>3.</a:t>
            </a:r>
            <a:r>
              <a:rPr lang="zh-CN" altLang="en-US" b="1" dirty="0">
                <a:solidFill>
                  <a:srgbClr val="00B050"/>
                </a:solidFill>
              </a:rPr>
              <a:t>第二个 </a:t>
            </a:r>
            <a:r>
              <a:rPr lang="en-US" altLang="zh-CN" b="1" dirty="0">
                <a:solidFill>
                  <a:srgbClr val="00B050"/>
                </a:solidFill>
              </a:rPr>
              <a:t>CTE</a:t>
            </a:r>
            <a:r>
              <a:rPr lang="zh-CN" altLang="en-US" b="1" dirty="0">
                <a:solidFill>
                  <a:srgbClr val="00B050"/>
                </a:solidFill>
              </a:rPr>
              <a:t>：</a:t>
            </a:r>
            <a:r>
              <a:rPr lang="en-US" altLang="zh-CN" b="1" dirty="0" err="1">
                <a:solidFill>
                  <a:srgbClr val="00B050"/>
                </a:solidFill>
              </a:rPr>
              <a:t>emission_data</a:t>
            </a:r>
            <a:r>
              <a:rPr lang="zh-CN" altLang="en-US" b="1" dirty="0">
                <a:solidFill>
                  <a:srgbClr val="00B050"/>
                </a:solidFill>
              </a:rPr>
              <a:t>（后期氮排放统计）</a:t>
            </a:r>
          </a:p>
          <a:p>
            <a:r>
              <a:rPr lang="zh-CN" altLang="en-US" b="1" dirty="0">
                <a:solidFill>
                  <a:srgbClr val="00B050"/>
                </a:solidFill>
              </a:rPr>
              <a:t>该 </a:t>
            </a:r>
            <a:r>
              <a:rPr lang="en-US" altLang="zh-CN" b="1" dirty="0">
                <a:solidFill>
                  <a:srgbClr val="00B050"/>
                </a:solidFill>
              </a:rPr>
              <a:t>CTE </a:t>
            </a:r>
            <a:r>
              <a:rPr lang="zh-CN" altLang="en-US" b="1" dirty="0">
                <a:solidFill>
                  <a:srgbClr val="00B050"/>
                </a:solidFill>
              </a:rPr>
              <a:t>专门统计</a:t>
            </a:r>
            <a:r>
              <a:rPr lang="en-US" altLang="zh-CN" b="1" dirty="0">
                <a:solidFill>
                  <a:srgbClr val="00B050"/>
                </a:solidFill>
              </a:rPr>
              <a:t>2001 </a:t>
            </a:r>
            <a:r>
              <a:rPr lang="zh-CN" altLang="en-US" b="1" dirty="0">
                <a:solidFill>
                  <a:srgbClr val="00B050"/>
                </a:solidFill>
              </a:rPr>
              <a:t>年及以后的流域氮总排放数据，作为后期排放指标与历史盈余做对比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r>
              <a:rPr lang="en-US" altLang="zh-CN" sz="2000" b="1" dirty="0">
                <a:solidFill>
                  <a:srgbClr val="00B050"/>
                </a:solidFill>
              </a:rPr>
              <a:t>4.</a:t>
            </a:r>
            <a:r>
              <a:rPr lang="zh-CN" altLang="en-US" sz="2000" b="1" dirty="0">
                <a:solidFill>
                  <a:srgbClr val="00B050"/>
                </a:solidFill>
              </a:rPr>
              <a:t>主查询：关联两组数据 </a:t>
            </a:r>
            <a:r>
              <a:rPr lang="en-US" altLang="zh-CN" sz="2000" b="1" dirty="0">
                <a:solidFill>
                  <a:srgbClr val="00B050"/>
                </a:solidFill>
              </a:rPr>
              <a:t>+ </a:t>
            </a:r>
            <a:r>
              <a:rPr lang="zh-CN" altLang="en-US" sz="2000" b="1" dirty="0">
                <a:solidFill>
                  <a:srgbClr val="00B050"/>
                </a:solidFill>
              </a:rPr>
              <a:t>指标计算 </a:t>
            </a:r>
            <a:r>
              <a:rPr lang="en-US" altLang="zh-CN" sz="2000" b="1" dirty="0">
                <a:solidFill>
                  <a:srgbClr val="00B050"/>
                </a:solidFill>
              </a:rPr>
              <a:t>+ </a:t>
            </a:r>
            <a:r>
              <a:rPr lang="zh-CN" altLang="en-US" sz="2000" b="1" dirty="0">
                <a:solidFill>
                  <a:srgbClr val="00B050"/>
                </a:solidFill>
              </a:rPr>
              <a:t>筛选排序这一层是查询的最终输出层，负责将两个 </a:t>
            </a:r>
            <a:r>
              <a:rPr lang="en-US" altLang="zh-CN" sz="2000" b="1" dirty="0">
                <a:solidFill>
                  <a:srgbClr val="00B050"/>
                </a:solidFill>
              </a:rPr>
              <a:t>CTE </a:t>
            </a:r>
            <a:r>
              <a:rPr lang="zh-CN" altLang="en-US" sz="2000" b="1" dirty="0">
                <a:solidFill>
                  <a:srgbClr val="00B050"/>
                </a:solidFill>
              </a:rPr>
              <a:t>的数据关联，完成衍生指标计算、排放等级划分、结果筛选与排序：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013" y="0"/>
            <a:ext cx="11212307" cy="949234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五种查询逻辑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NitrogenSurplusAtmDepCorr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E4C4ECB1-6DC9-A8F7-E5F1-7492E589A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537" y="1054904"/>
            <a:ext cx="8804366" cy="301199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A79F5AC-BFC2-8D05-66C6-CFA37C494DC8}"/>
              </a:ext>
            </a:extLst>
          </p:cNvPr>
          <p:cNvSpPr txBox="1"/>
          <p:nvPr/>
        </p:nvSpPr>
        <p:spPr>
          <a:xfrm>
            <a:off x="409303" y="4066896"/>
            <a:ext cx="1153885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1.</a:t>
            </a:r>
            <a:r>
              <a:rPr lang="zh-CN" altLang="en-US" sz="1600" b="1" dirty="0">
                <a:solidFill>
                  <a:srgbClr val="00B050"/>
                </a:solidFill>
              </a:rPr>
              <a:t>整体目的是：针对最新批次（最大</a:t>
            </a:r>
            <a:r>
              <a:rPr lang="en-US" altLang="zh-CN" sz="1600" b="1" dirty="0">
                <a:solidFill>
                  <a:srgbClr val="00B050"/>
                </a:solidFill>
              </a:rPr>
              <a:t>id</a:t>
            </a:r>
            <a:r>
              <a:rPr lang="zh-CN" altLang="en-US" sz="1600" b="1" dirty="0">
                <a:solidFill>
                  <a:srgbClr val="00B050"/>
                </a:solidFill>
              </a:rPr>
              <a:t>）的流域养分数据，先通过自定义 </a:t>
            </a:r>
            <a:r>
              <a:rPr lang="en-US" altLang="zh-CN" sz="1600" b="1" dirty="0">
                <a:solidFill>
                  <a:srgbClr val="00B050"/>
                </a:solidFill>
              </a:rPr>
              <a:t>UDF</a:t>
            </a:r>
            <a:r>
              <a:rPr lang="zh-CN" altLang="en-US" sz="1600" b="1" dirty="0">
                <a:solidFill>
                  <a:srgbClr val="00B050"/>
                </a:solidFill>
              </a:rPr>
              <a:t>（</a:t>
            </a:r>
            <a:r>
              <a:rPr lang="en-US" altLang="zh-CN" sz="1600" b="1" dirty="0" err="1">
                <a:solidFill>
                  <a:srgbClr val="00B050"/>
                </a:solidFill>
              </a:rPr>
              <a:t>calc_corr_aux</a:t>
            </a:r>
            <a:r>
              <a:rPr lang="zh-CN" altLang="en-US" sz="1600" b="1" dirty="0">
                <a:solidFill>
                  <a:srgbClr val="00B050"/>
                </a:solidFill>
              </a:rPr>
              <a:t>，对应</a:t>
            </a:r>
            <a:r>
              <a:rPr lang="en-US" altLang="zh-CN" sz="1600" b="1" dirty="0" err="1">
                <a:solidFill>
                  <a:srgbClr val="00B050"/>
                </a:solidFill>
              </a:rPr>
              <a:t>CorrCoefficientUDF</a:t>
            </a:r>
            <a:r>
              <a:rPr lang="zh-CN" altLang="en-US" sz="1600" b="1" dirty="0">
                <a:solidFill>
                  <a:srgbClr val="00B050"/>
                </a:solidFill>
              </a:rPr>
              <a:t>）计算 “农业氮盈余” 与 “大气氮沉降” 的皮尔逊相关系数，同时统计这两个指标的年度平均值，最终按年份升序输出结果，用于分析不同年份流域农业氮盈余与大气氮沉降的线性关联程度。</a:t>
            </a:r>
            <a:endParaRPr lang="en-US" altLang="zh-CN" sz="1600" b="1" dirty="0">
              <a:solidFill>
                <a:srgbClr val="00B050"/>
              </a:solidFill>
            </a:endParaRPr>
          </a:p>
          <a:p>
            <a:r>
              <a:rPr lang="en-US" altLang="zh-CN" sz="1600" b="1" dirty="0">
                <a:solidFill>
                  <a:srgbClr val="00B050"/>
                </a:solidFill>
              </a:rPr>
              <a:t>2.</a:t>
            </a:r>
            <a:r>
              <a:rPr lang="zh-CN" altLang="en-US" sz="1600" b="1" dirty="0">
                <a:solidFill>
                  <a:srgbClr val="00B050"/>
                </a:solidFill>
              </a:rPr>
              <a:t>分析自定义函数：入参校验：过滤空列表、长度不一致、有效数据不足 </a:t>
            </a:r>
            <a:r>
              <a:rPr lang="en-US" altLang="zh-CN" sz="1600" b="1" dirty="0">
                <a:solidFill>
                  <a:srgbClr val="00B050"/>
                </a:solidFill>
              </a:rPr>
              <a:t>2 </a:t>
            </a:r>
            <a:r>
              <a:rPr lang="zh-CN" altLang="en-US" sz="1600" b="1" dirty="0">
                <a:solidFill>
                  <a:srgbClr val="00B050"/>
                </a:solidFill>
              </a:rPr>
              <a:t>个（皮尔逊相关系数至少需要 </a:t>
            </a:r>
            <a:r>
              <a:rPr lang="en-US" altLang="zh-CN" sz="1600" b="1" dirty="0">
                <a:solidFill>
                  <a:srgbClr val="00B050"/>
                </a:solidFill>
              </a:rPr>
              <a:t>2 </a:t>
            </a:r>
            <a:r>
              <a:rPr lang="zh-CN" altLang="en-US" sz="1600" b="1" dirty="0">
                <a:solidFill>
                  <a:srgbClr val="00B050"/>
                </a:solidFill>
              </a:rPr>
              <a:t>组有效数据）的情况，避免计算异常。</a:t>
            </a:r>
          </a:p>
          <a:p>
            <a:r>
              <a:rPr lang="zh-CN" altLang="en-US" sz="1600" b="1" dirty="0">
                <a:solidFill>
                  <a:srgbClr val="00B050"/>
                </a:solidFill>
              </a:rPr>
              <a:t>空值过滤：剔除列表中的</a:t>
            </a:r>
            <a:r>
              <a:rPr lang="en-US" altLang="zh-CN" sz="1600" b="1" dirty="0">
                <a:solidFill>
                  <a:srgbClr val="00B050"/>
                </a:solidFill>
              </a:rPr>
              <a:t>NULL</a:t>
            </a:r>
            <a:r>
              <a:rPr lang="zh-CN" altLang="en-US" sz="1600" b="1" dirty="0">
                <a:solidFill>
                  <a:srgbClr val="00B050"/>
                </a:solidFill>
              </a:rPr>
              <a:t>值和</a:t>
            </a:r>
            <a:r>
              <a:rPr lang="en-US" altLang="zh-CN" sz="1600" b="1" dirty="0" err="1">
                <a:solidFill>
                  <a:srgbClr val="00B050"/>
                </a:solidFill>
              </a:rPr>
              <a:t>NaN</a:t>
            </a:r>
            <a:r>
              <a:rPr lang="zh-CN" altLang="en-US" sz="1600" b="1" dirty="0">
                <a:solidFill>
                  <a:srgbClr val="00B050"/>
                </a:solidFill>
              </a:rPr>
              <a:t>（非数字）值，只保留有效数值参与计算。</a:t>
            </a:r>
          </a:p>
          <a:p>
            <a:r>
              <a:rPr lang="zh-CN" altLang="en-US" sz="1600" b="1" dirty="0">
                <a:solidFill>
                  <a:srgbClr val="00B050"/>
                </a:solidFill>
              </a:rPr>
              <a:t>公式实现：严格按照皮尔逊相关系数公式 </a:t>
            </a:r>
            <a:r>
              <a:rPr lang="en-US" altLang="zh-CN" sz="1600" b="1" dirty="0">
                <a:solidFill>
                  <a:srgbClr val="00B050"/>
                </a:solidFill>
              </a:rPr>
              <a:t>r = [Σ((Xi - X̄)(Yi - Ȳ))] / √[Σ(Xi - X̄)² * Σ(Yi - Ȳ)²] </a:t>
            </a:r>
            <a:r>
              <a:rPr lang="zh-CN" altLang="en-US" sz="1600" b="1" dirty="0">
                <a:solidFill>
                  <a:srgbClr val="00B050"/>
                </a:solidFill>
              </a:rPr>
              <a:t>计算，同时规避分母为 </a:t>
            </a:r>
            <a:r>
              <a:rPr lang="en-US" altLang="zh-CN" sz="1600" b="1" dirty="0">
                <a:solidFill>
                  <a:srgbClr val="00B050"/>
                </a:solidFill>
              </a:rPr>
              <a:t>0 </a:t>
            </a:r>
            <a:r>
              <a:rPr lang="zh-CN" altLang="en-US" sz="1600" b="1" dirty="0">
                <a:solidFill>
                  <a:srgbClr val="00B050"/>
                </a:solidFill>
              </a:rPr>
              <a:t>的异常，最终返回格式化后的结果。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536" y="0"/>
            <a:ext cx="11187201" cy="984069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五种查询逻辑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自定义</a:t>
            </a:r>
            <a:r>
              <a:rPr lang="en-US" altLang="zh-CN" b="1" dirty="0">
                <a:solidFill>
                  <a:srgbClr val="FF0000"/>
                </a:solidFill>
              </a:rPr>
              <a:t>UDF)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62ADF34-B4FE-901D-F3D8-3EE62DCE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21" y="921496"/>
            <a:ext cx="4772038" cy="5829065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B7970B93-3648-A654-F859-FC2038FAF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59" y="921496"/>
            <a:ext cx="5145327" cy="57664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743" y="165370"/>
            <a:ext cx="11190514" cy="541594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hive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五种查询逻辑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HumanImpactRankingAnalysis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BDF90A31-8FAC-C22A-6A20-8FD100A14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24128"/>
            <a:ext cx="6917432" cy="59338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484B30E-56EB-AB2F-6E93-B00FF61FB3D1}"/>
              </a:ext>
            </a:extLst>
          </p:cNvPr>
          <p:cNvSpPr txBox="1"/>
          <p:nvPr/>
        </p:nvSpPr>
        <p:spPr>
          <a:xfrm>
            <a:off x="6836591" y="706964"/>
            <a:ext cx="535540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1.</a:t>
            </a:r>
            <a:r>
              <a:rPr lang="zh-CN" altLang="en-US" sz="2000" b="1" dirty="0">
                <a:solidFill>
                  <a:srgbClr val="00B050"/>
                </a:solidFill>
              </a:rPr>
              <a:t>针对最新批次（最大</a:t>
            </a:r>
            <a:r>
              <a:rPr lang="en-US" altLang="zh-CN" sz="2000" b="1" dirty="0">
                <a:solidFill>
                  <a:srgbClr val="00B050"/>
                </a:solidFill>
              </a:rPr>
              <a:t>id</a:t>
            </a:r>
            <a:r>
              <a:rPr lang="zh-CN" altLang="en-US" sz="2000" b="1" dirty="0">
                <a:solidFill>
                  <a:srgbClr val="00B050"/>
                </a:solidFill>
              </a:rPr>
              <a:t>）、</a:t>
            </a:r>
            <a:r>
              <a:rPr lang="en-US" altLang="zh-CN" sz="2000" b="1" dirty="0">
                <a:solidFill>
                  <a:srgbClr val="00B050"/>
                </a:solidFill>
              </a:rPr>
              <a:t>2015 </a:t>
            </a:r>
            <a:r>
              <a:rPr lang="zh-CN" altLang="en-US" sz="2000" b="1" dirty="0">
                <a:solidFill>
                  <a:srgbClr val="00B050"/>
                </a:solidFill>
              </a:rPr>
              <a:t>年及以后的抽样流域数据，先通过加权公式计算每个流域的 “人类影响评分”，再按年份分组对评分进行降序排名，最终筛选出各年份排名前 </a:t>
            </a:r>
            <a:r>
              <a:rPr lang="en-US" altLang="zh-CN" sz="2000" b="1" dirty="0">
                <a:solidFill>
                  <a:srgbClr val="00B050"/>
                </a:solidFill>
              </a:rPr>
              <a:t>20 </a:t>
            </a:r>
            <a:r>
              <a:rPr lang="zh-CN" altLang="en-US" sz="2000" b="1" dirty="0">
                <a:solidFill>
                  <a:srgbClr val="00B050"/>
                </a:solidFill>
              </a:rPr>
              <a:t>的流域，按年份和排名升序输出结果，用于识别各年份人类活动影响最大的核心流域。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endParaRPr lang="en-US" altLang="zh-CN" sz="2000" b="1" dirty="0">
              <a:solidFill>
                <a:srgbClr val="00B050"/>
              </a:solidFill>
            </a:endParaRPr>
          </a:p>
          <a:p>
            <a:r>
              <a:rPr lang="en-US" altLang="zh-CN" sz="2000" b="1" dirty="0">
                <a:solidFill>
                  <a:srgbClr val="00B050"/>
                </a:solidFill>
              </a:rPr>
              <a:t>2.</a:t>
            </a:r>
            <a:r>
              <a:rPr lang="zh-CN" altLang="en-US" sz="2000" b="1" dirty="0">
                <a:solidFill>
                  <a:srgbClr val="00B050"/>
                </a:solidFill>
              </a:rPr>
              <a:t>关键特性：</a:t>
            </a:r>
          </a:p>
          <a:p>
            <a:r>
              <a:rPr lang="zh-CN" altLang="en-US" sz="2000" b="1" dirty="0">
                <a:solidFill>
                  <a:srgbClr val="00B050"/>
                </a:solidFill>
              </a:rPr>
              <a:t>评分设计：采用标准化加权求和，消除指标量纲差异，权重分配体现业务优先级（食物氮废弃物权重最高）；</a:t>
            </a:r>
          </a:p>
          <a:p>
            <a:r>
              <a:rPr lang="zh-CN" altLang="en-US" sz="2000" b="1" dirty="0">
                <a:solidFill>
                  <a:srgbClr val="00B050"/>
                </a:solidFill>
              </a:rPr>
              <a:t>排名特性：使用</a:t>
            </a:r>
            <a:r>
              <a:rPr lang="en-US" altLang="zh-CN" sz="2000" b="1" dirty="0">
                <a:solidFill>
                  <a:srgbClr val="00B050"/>
                </a:solidFill>
              </a:rPr>
              <a:t>RANK()</a:t>
            </a:r>
            <a:r>
              <a:rPr lang="zh-CN" altLang="en-US" sz="2000" b="1" dirty="0">
                <a:solidFill>
                  <a:srgbClr val="00B050"/>
                </a:solidFill>
              </a:rPr>
              <a:t>支持并列排名，更贴合评分排名的业务场景；</a:t>
            </a:r>
          </a:p>
          <a:p>
            <a:r>
              <a:rPr lang="zh-CN" altLang="en-US" sz="2000" b="1" dirty="0">
                <a:solidFill>
                  <a:srgbClr val="00B050"/>
                </a:solidFill>
              </a:rPr>
              <a:t>效率优化：通过</a:t>
            </a:r>
            <a:r>
              <a:rPr lang="en-US" altLang="zh-CN" sz="2000" b="1" dirty="0" err="1">
                <a:solidFill>
                  <a:srgbClr val="00B050"/>
                </a:solidFill>
              </a:rPr>
              <a:t>pmod</a:t>
            </a:r>
            <a:r>
              <a:rPr lang="en-US" altLang="zh-CN" sz="2000" b="1" dirty="0">
                <a:solidFill>
                  <a:srgbClr val="00B050"/>
                </a:solidFill>
              </a:rPr>
              <a:t>(hash(FIPS), 8)</a:t>
            </a:r>
            <a:r>
              <a:rPr lang="zh-CN" altLang="en-US" sz="2000" b="1" dirty="0">
                <a:solidFill>
                  <a:srgbClr val="00B050"/>
                </a:solidFill>
              </a:rPr>
              <a:t>抽样减少数据量，提升查询执行效率；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11240311" cy="977630"/>
          </a:xfrm>
        </p:spPr>
        <p:txBody>
          <a:bodyPr/>
          <a:lstStyle/>
          <a:p>
            <a:pPr algn="ctr"/>
            <a:r>
              <a:rPr lang="en-US" altLang="zh-CN" b="1" dirty="0" err="1">
                <a:solidFill>
                  <a:srgbClr val="FF0000"/>
                </a:solidFill>
              </a:rPr>
              <a:t>hbase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一种查询逻辑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WatershedNutrientHBaseUtil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C28508-F5F3-D809-168F-4EC435F0E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392" y="1386192"/>
            <a:ext cx="9983216" cy="441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hbase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创建命名空间（若不存在）</a:t>
            </a:r>
          </a:p>
          <a:p>
            <a:pPr marL="0" indent="0">
              <a:buNone/>
            </a:pP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create_namespace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'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watershed_hbase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'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# 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创建表：列族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cf_basic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（基础信息）、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cf_surplus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（盈余数据）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create '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watershed_hbase.nutrient_surplus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', '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cf_basic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', '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cf_surplus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’</a:t>
            </a:r>
          </a:p>
          <a:p>
            <a:pPr marL="0" indent="0">
              <a:buNone/>
            </a:pPr>
            <a:endParaRPr lang="en-US" altLang="zh-CN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、实现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hbase.columns.mapping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 = ”:key,cf_basic:id,cf_basic:fips,cf_basic:year,cf_surplus:n_ag_surplus_kgsqkm,cf_surplus:p_ag_surplus_kgsqkm 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所示列族下的列</a:t>
            </a:r>
            <a:endParaRPr lang="en-US" altLang="zh-CN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altLang="zh-CN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3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、查询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n_ag_surplus_kgsqkm,cf_surplus:p_ag_surplus_kgsqkm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前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100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的数据导入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MySQL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。</a:t>
            </a:r>
            <a:endParaRPr lang="en-US" altLang="zh-CN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altLang="zh-CN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、实现每次从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hive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导入前都先清空当前</a:t>
            </a:r>
            <a:r>
              <a:rPr lang="en-US" altLang="zh-C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id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的那部分</a:t>
            </a:r>
            <a:r>
              <a:rPr lang="en-US" altLang="zh-CN" sz="20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hbase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表数据。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E465DB-B13C-7EEE-AACA-1F08C7938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64" y="0"/>
            <a:ext cx="11235447" cy="1040860"/>
          </a:xfrm>
        </p:spPr>
        <p:txBody>
          <a:bodyPr/>
          <a:lstStyle/>
          <a:p>
            <a:pPr algn="ctr"/>
            <a:r>
              <a:rPr lang="en-US" altLang="zh-CN" b="1" dirty="0" err="1">
                <a:solidFill>
                  <a:srgbClr val="FF0000"/>
                </a:solidFill>
              </a:rPr>
              <a:t>hbase</a:t>
            </a:r>
            <a:r>
              <a:rPr lang="zh-CN" altLang="en-US" b="1" dirty="0">
                <a:solidFill>
                  <a:srgbClr val="FF0000"/>
                </a:solidFill>
              </a:rPr>
              <a:t>查询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一种查询逻辑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WatershedNutrientHBaseUtil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  <p:pic>
        <p:nvPicPr>
          <p:cNvPr id="7" name="内容占位符 6" descr="文本&#10;&#10;AI 生成的内容可能不正确。">
            <a:extLst>
              <a:ext uri="{FF2B5EF4-FFF2-40B4-BE49-F238E27FC236}">
                <a16:creationId xmlns:a16="http://schemas.microsoft.com/office/drawing/2014/main" id="{944D1C59-B971-0345-5B81-3F5E313E8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929" y="1181640"/>
            <a:ext cx="5701210" cy="5506126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848FC7B0-F777-ADA3-7023-BBA03660C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140" y="1181640"/>
            <a:ext cx="6318116" cy="550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87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013" y="497418"/>
            <a:ext cx="11210361" cy="706964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项目效果展示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DC7E81-7303-8B43-AE2F-D037F157D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74" y="1278772"/>
            <a:ext cx="4886361" cy="27051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73A4E71-C80F-3569-E291-4CF7AE766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535" y="1278772"/>
            <a:ext cx="5091035" cy="27051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0893442-DEFE-0982-21FE-9296CF748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62" y="3983892"/>
            <a:ext cx="4952773" cy="270512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9134AA0-708F-048B-85F8-4C2240D8B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246" y="3983892"/>
            <a:ext cx="5128324" cy="27051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9FBBC-F19C-BE8A-74C6-23C26B09C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204282"/>
            <a:ext cx="8761413" cy="569068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关键技术展示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数据清洗</a:t>
            </a:r>
            <a:endParaRPr lang="zh-CN" altLang="en-US" dirty="0"/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210C2ABE-9695-4636-E134-99AB1446D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5635" y="773350"/>
            <a:ext cx="6751634" cy="600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41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Question and answ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409" y="2663557"/>
            <a:ext cx="4055671" cy="313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tse1.mm.bing.net/th?&amp;id=OIP.Mbf4a764f97c71b4d0ecca6bc861bcb50H0&amp;w=181&amp;h=292&amp;c=0&amp;pid=1.9&amp;rs=0&amp;p=0&amp;r=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75" y="2663557"/>
            <a:ext cx="172402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tse1.mm.bing.net/th?&amp;id=OIP.M84b708281016e7ed324a2bdb1a41454co0&amp;w=300&amp;h=225&amp;c=0&amp;pid=1.9&amp;rs=0&amp;p=0&amp;r=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289" y="3159456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tse1.mm.bing.net/th?&amp;id=OIP.M9d1bf3a50d020ff23000dcdf6435d812o0&amp;w=300&amp;h=192&amp;c=0&amp;pid=1.9&amp;rs=0&amp;p=0&amp;r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08" y="2729855"/>
            <a:ext cx="4926304" cy="31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QwYjNmMDU3NDUwOTE3YWQxNzMyZjZmNzAzYmUxZm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168</TotalTime>
  <Words>1518</Words>
  <Application>Microsoft Office PowerPoint</Application>
  <PresentationFormat>宽屏</PresentationFormat>
  <Paragraphs>98</Paragraphs>
  <Slides>29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2" baseType="lpstr">
      <vt:lpstr>Century Gothic</vt:lpstr>
      <vt:lpstr>Wingdings 3</vt:lpstr>
      <vt:lpstr>Ion Boardroom</vt:lpstr>
      <vt:lpstr>Agenda:</vt:lpstr>
      <vt:lpstr>      Semester project on</vt:lpstr>
      <vt:lpstr>DEVELOPMENT</vt:lpstr>
      <vt:lpstr>PowerPoint 演示文稿</vt:lpstr>
      <vt:lpstr>主页与登录注册 </vt:lpstr>
      <vt:lpstr>项目:基于美国各流域物质分布的数据分析 关键技术—hive+hbase 陈政铭</vt:lpstr>
      <vt:lpstr>MySQL表结构</vt:lpstr>
      <vt:lpstr>MySQL表结构</vt:lpstr>
      <vt:lpstr>MySQL表结构</vt:lpstr>
      <vt:lpstr>项目主要流程图—hive+hbase</vt:lpstr>
      <vt:lpstr>hive查询——准备工作</vt:lpstr>
      <vt:lpstr>hive查询——准备工作</vt:lpstr>
      <vt:lpstr>hive查询——准备工作</vt:lpstr>
      <vt:lpstr>hive查询——准备工作(upload_file)</vt:lpstr>
      <vt:lpstr>hive查询——准备工作(czm_final_analysis)</vt:lpstr>
      <vt:lpstr>hive查询——java代码</vt:lpstr>
      <vt:lpstr>hive查询——java代码</vt:lpstr>
      <vt:lpstr>hive查询——五种查询逻辑(WatershedEfficiencyTop10)</vt:lpstr>
      <vt:lpstr>hive查询——五种查询逻辑(PhosphorusPollutionByBasinArea)</vt:lpstr>
      <vt:lpstr>hive查询——五种查询逻辑(NitrogenSurplusEmissionAnalysis)</vt:lpstr>
      <vt:lpstr>hive查询——五种查询逻辑(NitrogenSurplusAtmDepCorr)</vt:lpstr>
      <vt:lpstr>hive查询——五种查询逻辑(自定义UDF)</vt:lpstr>
      <vt:lpstr>hive查询——五种查询逻辑(HumanImpactRankingAnalysis)</vt:lpstr>
      <vt:lpstr>hbase查询——一种查询逻辑(WatershedNutrientHBaseUtil)</vt:lpstr>
      <vt:lpstr>hbase查询——一种查询逻辑(WatershedNutrientHBaseUtil)</vt:lpstr>
      <vt:lpstr>项目效果展示</vt:lpstr>
      <vt:lpstr>关键技术展示——数据清洗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project on</dc:title>
  <dc:creator>Shahnawaz</dc:creator>
  <cp:lastModifiedBy>zhengming chen</cp:lastModifiedBy>
  <cp:revision>214</cp:revision>
  <dcterms:created xsi:type="dcterms:W3CDTF">2016-12-16T07:43:00Z</dcterms:created>
  <dcterms:modified xsi:type="dcterms:W3CDTF">2025-12-30T02:15:15Z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A353037AE442461EA1A69B9377F8C142_13</vt:lpwstr>
  </property>
  <property fmtid="{D5CDD505-2E9C-101B-9397-08002B2CF9AE}" pid="3" name="KSOProductBuildVer">
    <vt:lpwstr>2052-12.1.0.24034</vt:lpwstr>
  </property>
</Properties>
</file>